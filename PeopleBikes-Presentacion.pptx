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Presentacion de PeopleBikes. El foco esta en como esta construido: tecnologias, arquitectura y patrones de diseño.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sistema se penso como 11 modulos independientes. Eso permite que crezca por partes.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Arquitectura en tres capas fisicas. Contrato explicito entre ellas via DTOs y 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backend. Todo el ecosistema Spring en version actual, nada legacy.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Frontend moderno y tipado. Sin librerias de UI pesadas: el sistema de diseño es propio.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Compose con tres servicios. Dockerfile multi-stage para no publicar el toolchain de compilacion.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tres patrones se repiten identicos en los 11 modulos. La consistencia es el objetivo.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Patrones de comportamiento: garantizan invariantes sin depender de la disciplina de cada persona.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Decisiones de modelado orientadas al mantenimiento a largo plazo.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Seguridad en profundidad: token firmado, refresh deduplicado, roles y verificacion de propiedad.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sistema de diseño se construyo sobre la paleta de marca, con contraste medido en cada combinacion.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tecnico: las decisiones tomadas apuntan a que el sistema crezca sin reescrituras.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Abrir 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005840"/>
            <a:ext cx="3840480" cy="3840480"/>
          </a:xfrm>
          <a:prstGeom prst="ellipse">
            <a:avLst/>
          </a:prstGeom>
          <a:solidFill>
            <a:srgbClr val="6B21A8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3108960"/>
            <a:ext cx="2377440" cy="2377440"/>
          </a:xfrm>
          <a:prstGeom prst="ellipse">
            <a:avLst/>
          </a:prstGeom>
          <a:solidFill>
            <a:srgbClr val="A855F7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5120640"/>
            <a:ext cx="1371600" cy="1371600"/>
          </a:xfrm>
          <a:prstGeom prst="ellipse">
            <a:avLst/>
          </a:prstGeom>
          <a:solidFill>
            <a:srgbClr val="A855F7">
              <a:alpha val="2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BICICLETAS COMPARTIDAS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402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PeopleBikes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5661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C9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de movilidad urbana construida sobre una arquitectura modular, segura y preparada para crecer.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577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Agustín Jorge Pulido  ·  Julián Argentino Mauro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5897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Aplicaciones 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es PeopleBikes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0020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de transporte público en bicicletas: el usuario retira una bici en cualquier estación y la devuelve en otra, bajo las condiciones del plan que contrató.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576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presenta hoy no es solo la funcionalidad, sino la ingeniería que la sostiene.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309360" y="1417320"/>
            <a:ext cx="5212080" cy="1234440"/>
          </a:xfrm>
          <a:prstGeom prst="roundRect">
            <a:avLst>
              <a:gd name="adj" fmla="val 8889"/>
            </a:avLst>
          </a:prstGeom>
          <a:solidFill>
            <a:srgbClr val="F3E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37960" y="150876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6B2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16184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módulos de negocio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198424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con sus cinco capas completas y su propio límite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2926080"/>
            <a:ext cx="5212080" cy="1234440"/>
          </a:xfrm>
          <a:prstGeom prst="roundRect">
            <a:avLst>
              <a:gd name="adj" fmla="val 8889"/>
            </a:avLst>
          </a:prstGeom>
          <a:solidFill>
            <a:srgbClr val="F3E8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301752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6B2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31272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funciones definidas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349300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funcional cerrado antes de escribir código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4434840"/>
            <a:ext cx="5212080" cy="1234440"/>
          </a:xfrm>
          <a:prstGeom prst="roundRect">
            <a:avLst>
              <a:gd name="adj" fmla="val 8889"/>
            </a:avLst>
          </a:prstGeom>
          <a:solidFill>
            <a:srgbClr val="F3E8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452628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6B2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46360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del sistema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500176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Cliente, administrador y procesos automáticos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piezas desacopladas que se comunican por contratos explícitos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971800" cy="2788920"/>
          </a:xfrm>
          <a:prstGeom prst="roundRect">
            <a:avLst>
              <a:gd name="adj" fmla="val 4590"/>
            </a:avLst>
          </a:prstGeom>
          <a:solidFill>
            <a:srgbClr val="F3E8FF"/>
          </a:solidFill>
          <a:ln/>
          <a:effectLst>
            <a:outerShdw sx="100000" sy="100000" kx="0" ky="0" algn="bl" rotWithShape="0" blurRad="127000" dist="25400" dir="5400000">
              <a:srgbClr val="1F2937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39572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8072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3756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reactiva.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la API por HTTP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mantiene su propio estado.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17720" y="2103120"/>
            <a:ext cx="2971800" cy="2788920"/>
          </a:xfrm>
          <a:prstGeom prst="roundRect">
            <a:avLst>
              <a:gd name="adj" fmla="val 4590"/>
            </a:avLst>
          </a:prstGeom>
          <a:solidFill>
            <a:srgbClr val="6B21A8"/>
          </a:solidFill>
          <a:ln/>
          <a:effectLst>
            <a:outerShdw sx="100000" sy="100000" kx="0" ky="0" algn="bl" rotWithShape="0" blurRad="127000" dist="25400" dir="5400000">
              <a:srgbClr val="1F2937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892040" y="239572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REST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8072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333756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validación, seguridad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transacciones.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95360" y="2103120"/>
            <a:ext cx="2971800" cy="2788920"/>
          </a:xfrm>
          <a:prstGeom prst="roundRect">
            <a:avLst>
              <a:gd name="adj" fmla="val 4590"/>
            </a:avLst>
          </a:prstGeom>
          <a:solidFill>
            <a:srgbClr val="F3E8FF"/>
          </a:solidFill>
          <a:ln/>
          <a:effectLst>
            <a:outerShdw sx="100000" sy="100000" kx="0" ky="0" algn="bl" rotWithShape="0" blurRad="127000" dist="25400" dir="5400000">
              <a:srgbClr val="1F2937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869680" y="239572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Persistencia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8869680" y="28072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0" y="333756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relacional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mapeado con JPA,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borrado físico.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0" y="3493008"/>
            <a:ext cx="685800" cy="0"/>
          </a:xfrm>
          <a:prstGeom prst="line">
            <a:avLst/>
          </a:prstGeom>
          <a:noFill/>
          <a:ln w="38100">
            <a:solidFill>
              <a:srgbClr val="A855F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72400" y="3493008"/>
            <a:ext cx="685800" cy="0"/>
          </a:xfrm>
          <a:prstGeom prst="line">
            <a:avLst/>
          </a:prstGeom>
          <a:noFill/>
          <a:ln w="38100">
            <a:solidFill>
              <a:srgbClr val="A855F7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640080" y="5486400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frontend no conoce la base de datos y la base no conoce la interfaz. Cambiar una pieza no obliga a tocar las otras.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Tecnologías · Backend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sobre el ecosistema Spring, en su versión actual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F3E8FF"/>
          </a:solidFill>
          <a:ln/>
          <a:effectLst>
            <a:outerShdw sx="100000" sy="100000" kx="0" ky="0" algn="bl" rotWithShape="0" blurRad="127000" dist="25400" dir="5400000">
              <a:srgbClr val="1F293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057400"/>
            <a:ext cx="566928" cy="566928"/>
          </a:xfrm>
          <a:prstGeom prst="ellipse">
            <a:avLst/>
          </a:prstGeom>
          <a:solidFill>
            <a:srgbClr val="6B21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9344" y="20574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17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715768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Records, sealed types y pattern matching para un modelo de datos conciso y seguro.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9976" y="178308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F3E8FF"/>
          </a:solidFill>
          <a:ln/>
          <a:effectLst>
            <a:outerShdw sx="100000" sy="100000" kx="0" ky="0" algn="bl" rotWithShape="0" blurRad="127000" dist="25400" dir="5400000">
              <a:srgbClr val="1F293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72584" y="2057400"/>
            <a:ext cx="566928" cy="566928"/>
          </a:xfrm>
          <a:prstGeom prst="ellipse">
            <a:avLst/>
          </a:prstGeom>
          <a:solidFill>
            <a:srgbClr val="6B21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72584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20574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 4.1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72584" y="2715768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Inyección de dependencias, autoconfiguración y arranque productivo inmediato.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9872" y="178308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F3E8FF"/>
          </a:solidFill>
          <a:ln/>
          <a:effectLst>
            <a:outerShdw sx="100000" sy="100000" kx="0" ky="0" algn="bl" rotWithShape="0" blurRad="127000" dist="25400" dir="5400000">
              <a:srgbClr val="1F293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2057400"/>
            <a:ext cx="566928" cy="566928"/>
          </a:xfrm>
          <a:prstGeom prst="ellipse">
            <a:avLst/>
          </a:prstGeom>
          <a:solidFill>
            <a:srgbClr val="6B21A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089136" y="20574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Data JPA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715768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objeto-relacional y repositorios generados a partir de interfaces.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F3E8FF"/>
          </a:solidFill>
          <a:ln/>
          <a:effectLst>
            <a:outerShdw sx="100000" sy="100000" kx="0" ky="0" algn="bl" rotWithShape="0" blurRad="127000" dist="25400" dir="5400000">
              <a:srgbClr val="1F2937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2688" y="4389120"/>
            <a:ext cx="566928" cy="566928"/>
          </a:xfrm>
          <a:prstGeom prst="ellipse">
            <a:avLst/>
          </a:prstGeom>
          <a:solidFill>
            <a:srgbClr val="6B21A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" y="4389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609344" y="43891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Security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" y="5047488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y autorización declarativa, aplicada método por método.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79976" y="411480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F3E8FF"/>
          </a:solidFill>
          <a:ln/>
          <a:effectLst>
            <a:outerShdw sx="100000" sy="100000" kx="0" ky="0" algn="bl" rotWithShape="0" blurRad="127000" dist="25400" dir="5400000">
              <a:srgbClr val="1F2937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72584" y="4389120"/>
            <a:ext cx="566928" cy="566928"/>
          </a:xfrm>
          <a:prstGeom prst="ellipse">
            <a:avLst/>
          </a:prstGeom>
          <a:solidFill>
            <a:srgbClr val="6B21A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72584" y="4389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349240" y="43891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(jjwt)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672584" y="5047488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sin estado en el servidor: cada petición viaja firmada y verificable.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19872" y="411480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F3E8FF"/>
          </a:solidFill>
          <a:ln/>
          <a:effectLst>
            <a:outerShdw sx="100000" sy="100000" kx="0" ky="0" algn="bl" rotWithShape="0" blurRad="127000" dist="25400" dir="5400000">
              <a:srgbClr val="1F2937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389120"/>
            <a:ext cx="566928" cy="566928"/>
          </a:xfrm>
          <a:prstGeom prst="ellipse">
            <a:avLst/>
          </a:prstGeom>
          <a:solidFill>
            <a:srgbClr val="6B21A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12480" y="4389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089136" y="43891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Bean Validation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5047488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de formato viven en el contrato de entrada, no en código repetido.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Tecnologías · Frontend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interfaz reactiva, tipada de punta a punta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F3E8FF"/>
          </a:solidFill>
          <a:ln/>
          <a:effectLst>
            <a:outerShdw sx="100000" sy="100000" kx="0" ky="0" algn="bl" rotWithShape="0" blurRad="127000" dist="25400" dir="5400000">
              <a:srgbClr val="1F293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057400"/>
            <a:ext cx="566928" cy="566928"/>
          </a:xfrm>
          <a:prstGeom prst="ellipse">
            <a:avLst/>
          </a:prstGeom>
          <a:solidFill>
            <a:srgbClr val="6B21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9344" y="20574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19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715768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declarativa: el estado describe la pantalla y el framework la sincroniza.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9976" y="178308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F3E8FF"/>
          </a:solidFill>
          <a:ln/>
          <a:effectLst>
            <a:outerShdw sx="100000" sy="100000" kx="0" ky="0" algn="bl" rotWithShape="0" blurRad="127000" dist="25400" dir="5400000">
              <a:srgbClr val="1F293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72584" y="2057400"/>
            <a:ext cx="566928" cy="566928"/>
          </a:xfrm>
          <a:prstGeom prst="ellipse">
            <a:avLst/>
          </a:prstGeom>
          <a:solidFill>
            <a:srgbClr val="6B21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72584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20574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TypeScript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72584" y="2715768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contrato de la API está tipado: un cambio en el backend rompe la compilación, no la producción.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9872" y="178308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F3E8FF"/>
          </a:solidFill>
          <a:ln/>
          <a:effectLst>
            <a:outerShdw sx="100000" sy="100000" kx="0" ky="0" algn="bl" rotWithShape="0" blurRad="127000" dist="25400" dir="5400000">
              <a:srgbClr val="1F293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2057400"/>
            <a:ext cx="566928" cy="566928"/>
          </a:xfrm>
          <a:prstGeom prst="ellipse">
            <a:avLst/>
          </a:prstGeom>
          <a:solidFill>
            <a:srgbClr val="6B21A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089136" y="20574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715768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Recarga en caliente durante el desarrollo y build optimizado para producción.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F3E8FF"/>
          </a:solidFill>
          <a:ln/>
          <a:effectLst>
            <a:outerShdw sx="100000" sy="100000" kx="0" ky="0" algn="bl" rotWithShape="0" blurRad="127000" dist="25400" dir="5400000">
              <a:srgbClr val="1F2937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2688" y="4389120"/>
            <a:ext cx="566928" cy="566928"/>
          </a:xfrm>
          <a:prstGeom prst="ellipse">
            <a:avLst/>
          </a:prstGeom>
          <a:solidFill>
            <a:srgbClr val="6B21A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" y="4389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609344" y="43891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Router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" y="5047488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por rutas anidadas: cada sección carga solo lo que necesita.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79976" y="411480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F3E8FF"/>
          </a:solidFill>
          <a:ln/>
          <a:effectLst>
            <a:outerShdw sx="100000" sy="100000" kx="0" ky="0" algn="bl" rotWithShape="0" blurRad="127000" dist="25400" dir="5400000">
              <a:srgbClr val="1F2937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72584" y="4389120"/>
            <a:ext cx="566928" cy="566928"/>
          </a:xfrm>
          <a:prstGeom prst="ellipse">
            <a:avLst/>
          </a:prstGeom>
          <a:solidFill>
            <a:srgbClr val="6B21A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72584" y="4389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349240" y="43891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con tokens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672584" y="5047488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librería de componentes: un sistema propio, liviano y sin dependencias que envejezcan.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19872" y="411480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F3E8FF"/>
          </a:solidFill>
          <a:ln/>
          <a:effectLst>
            <a:outerShdw sx="100000" sy="100000" kx="0" ky="0" algn="bl" rotWithShape="0" blurRad="127000" dist="25400" dir="5400000">
              <a:srgbClr val="1F2937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389120"/>
            <a:ext cx="566928" cy="566928"/>
          </a:xfrm>
          <a:prstGeom prst="ellipse">
            <a:avLst/>
          </a:prstGeom>
          <a:solidFill>
            <a:srgbClr val="6B21A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12480" y="4389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089136" y="43891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oxlint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5047488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estático en cada cambio, con reglas específicas para React.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Infraestructura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comando levanta el sistema completo, igual en cualquier máquina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2286000"/>
          </a:xfrm>
          <a:prstGeom prst="roundRect">
            <a:avLst>
              <a:gd name="adj" fmla="val 5600"/>
            </a:avLst>
          </a:prstGeom>
          <a:solidFill>
            <a:srgbClr val="2B3444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2194560"/>
            <a:ext cx="566928" cy="56692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9344" y="21945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9260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construida en varias etapas: se compila con Maven y se publica solo el resultado.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9976" y="1920240"/>
            <a:ext cx="3429000" cy="2286000"/>
          </a:xfrm>
          <a:prstGeom prst="roundRect">
            <a:avLst>
              <a:gd name="adj" fmla="val 5600"/>
            </a:avLst>
          </a:prstGeom>
          <a:solidFill>
            <a:srgbClr val="2B3444"/>
          </a:solidFill>
          <a:ln/>
        </p:spPr>
      </p:sp>
      <p:sp>
        <p:nvSpPr>
          <p:cNvPr id="10" name="Shape 8"/>
          <p:cNvSpPr/>
          <p:nvPr/>
        </p:nvSpPr>
        <p:spPr>
          <a:xfrm>
            <a:off x="4672584" y="2194560"/>
            <a:ext cx="566928" cy="56692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72584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21945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17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72584" y="29260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con verificación de estado: la aplicación arranca recién cuando está lista.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9872" y="1920240"/>
            <a:ext cx="3429000" cy="2286000"/>
          </a:xfrm>
          <a:prstGeom prst="roundRect">
            <a:avLst>
              <a:gd name="adj" fmla="val 5600"/>
            </a:avLst>
          </a:prstGeom>
          <a:solidFill>
            <a:srgbClr val="2B3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2194560"/>
            <a:ext cx="566928" cy="56692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089136" y="21945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pgAdmin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9260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Consola de administración de la base, incluida en el mismo entorno.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617720"/>
            <a:ext cx="10908792" cy="1234440"/>
          </a:xfrm>
          <a:prstGeom prst="roundRect">
            <a:avLst>
              <a:gd name="adj" fmla="val 10370"/>
            </a:avLst>
          </a:prstGeom>
          <a:solidFill>
            <a:srgbClr val="6B21A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5840" y="48280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5303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reproducible: sin instalaciones manuales, sin "en mi máquina funciona".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Patrones de diseño · Estructura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tomadas una vez y aplicadas en los once módulos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42316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F3E8FF"/>
          </a:solidFill>
          <a:ln/>
          <a:effectLst>
            <a:outerShdw sx="100000" sy="100000" kx="0" ky="0" algn="bl" rotWithShape="0" blurRad="127000" dist="25400" dir="5400000">
              <a:srgbClr val="1F293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697480"/>
            <a:ext cx="566928" cy="566928"/>
          </a:xfrm>
          <a:prstGeom prst="ellipse">
            <a:avLst/>
          </a:prstGeom>
          <a:solidFill>
            <a:srgbClr val="6B21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9344" y="26974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355848"/>
            <a:ext cx="2843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acceso a datos vive detrás de una interfaz. No hay consultas SQL desperdigadas por el código: cada módulo pide lo que necesita y no sabe cómo se obtiene.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79976" y="242316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F3E8FF"/>
          </a:solidFill>
          <a:ln/>
          <a:effectLst>
            <a:outerShdw sx="100000" sy="100000" kx="0" ky="0" algn="bl" rotWithShape="0" blurRad="127000" dist="25400" dir="5400000">
              <a:srgbClr val="1F293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72584" y="2697480"/>
            <a:ext cx="566928" cy="566928"/>
          </a:xfrm>
          <a:prstGeom prst="ellipse">
            <a:avLst/>
          </a:prstGeom>
          <a:solidFill>
            <a:srgbClr val="6B21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72584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26974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Entidad rica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72584" y="3355848"/>
            <a:ext cx="2843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entidades no exponen setters genéricos. Se les pide una acción con nombre propio —finalizar, saldar, desactivar— y ellas protegen su propia consistencia.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19872" y="242316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F3E8FF"/>
          </a:solidFill>
          <a:ln/>
          <a:effectLst>
            <a:outerShdw sx="100000" sy="100000" kx="0" ky="0" algn="bl" rotWithShape="0" blurRad="127000" dist="25400" dir="5400000">
              <a:srgbClr val="1F293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2697480"/>
            <a:ext cx="566928" cy="566928"/>
          </a:xfrm>
          <a:prstGeom prst="ellipse">
            <a:avLst/>
          </a:prstGeom>
          <a:solidFill>
            <a:srgbClr val="6B21A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089136" y="26974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DTO como record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355848"/>
            <a:ext cx="2843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entra y lo que sale son contratos inmutables, separados del modelo interno. La base de datos puede cambiar sin romper a quien consume la API.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44068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desarrollador nuevo que abre cualquier módulo encuentra exactamente la misma estructura.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Patrones de diseño · Comportamiento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protege la integridad de los datos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42316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F3E8FF"/>
          </a:solidFill>
          <a:ln/>
          <a:effectLst>
            <a:outerShdw sx="100000" sy="100000" kx="0" ky="0" algn="bl" rotWithShape="0" blurRad="127000" dist="25400" dir="5400000">
              <a:srgbClr val="1F293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697480"/>
            <a:ext cx="566928" cy="566928"/>
          </a:xfrm>
          <a:prstGeom prst="ellipse">
            <a:avLst/>
          </a:prstGeom>
          <a:solidFill>
            <a:srgbClr val="6B21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9344" y="26974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 único de alta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355848"/>
            <a:ext cx="2843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entidades con reglas de creación se crean en un solo lugar del sistema. Es imposible generar una en un estado inválido desde otro módulo.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79976" y="242316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F3E8FF"/>
          </a:solidFill>
          <a:ln/>
          <a:effectLst>
            <a:outerShdw sx="100000" sy="100000" kx="0" ky="0" algn="bl" rotWithShape="0" blurRad="127000" dist="25400" dir="5400000">
              <a:srgbClr val="1F293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72584" y="2697480"/>
            <a:ext cx="566928" cy="566928"/>
          </a:xfrm>
          <a:prstGeom prst="ellipse">
            <a:avLst/>
          </a:prstGeom>
          <a:solidFill>
            <a:srgbClr val="6B21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72584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26974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 transaccional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72584" y="3355848"/>
            <a:ext cx="2843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operación de negocio ocurre completa o no ocurre. Si algo falla a mitad de camino, no queda rastro parcial.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19872" y="242316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F3E8FF"/>
          </a:solidFill>
          <a:ln/>
          <a:effectLst>
            <a:outerShdw sx="100000" sy="100000" kx="0" ky="0" algn="bl" rotWithShape="0" blurRad="127000" dist="25400" dir="5400000">
              <a:srgbClr val="1F293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2697480"/>
            <a:ext cx="566928" cy="566928"/>
          </a:xfrm>
          <a:prstGeom prst="ellipse">
            <a:avLst/>
          </a:prstGeom>
          <a:solidFill>
            <a:srgbClr val="6B21A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089136" y="26974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Baja lógica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355848"/>
            <a:ext cx="2843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se elimina: se desactiva. El historial queda íntegro y las referencias nunca apuntan al vacío.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44068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integridad no depende de que quien programa se acuerde: está impuesta por el diseño.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Patrones de diseño · Datos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decisiones que evitan problemas a futuro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42316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F3E8FF"/>
          </a:solidFill>
          <a:ln/>
          <a:effectLst>
            <a:outerShdw sx="100000" sy="100000" kx="0" ky="0" algn="bl" rotWithShape="0" blurRad="127000" dist="25400" dir="5400000">
              <a:srgbClr val="1F293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697480"/>
            <a:ext cx="566928" cy="566928"/>
          </a:xfrm>
          <a:prstGeom prst="ellipse">
            <a:avLst/>
          </a:prstGeom>
          <a:solidFill>
            <a:srgbClr val="6B21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9344" y="26974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Estados como texto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355848"/>
            <a:ext cx="2843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estados se guardan por su nombre y no por su posición. Agregar un valor nuevo mañana no cambia el significado de lo ya guardado.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79976" y="242316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F3E8FF"/>
          </a:solidFill>
          <a:ln/>
          <a:effectLst>
            <a:outerShdw sx="100000" sy="100000" kx="0" ky="0" algn="bl" rotWithShape="0" blurRad="127000" dist="25400" dir="5400000">
              <a:srgbClr val="1F293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72584" y="2697480"/>
            <a:ext cx="566928" cy="566928"/>
          </a:xfrm>
          <a:prstGeom prst="ellipse">
            <a:avLst/>
          </a:prstGeom>
          <a:solidFill>
            <a:srgbClr val="6B21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72584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26974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Historial como entidad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72584" y="3355848"/>
            <a:ext cx="2843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 cambio necesita auditoría —quién, cuándo y por qué— es su propia entidad, no una marca suelta que no explica nada.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19872" y="242316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F3E8FF"/>
          </a:solidFill>
          <a:ln/>
          <a:effectLst>
            <a:outerShdw sx="100000" sy="100000" kx="0" ky="0" algn="bl" rotWithShape="0" blurRad="127000" dist="25400" dir="5400000">
              <a:srgbClr val="1F293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2697480"/>
            <a:ext cx="566928" cy="566928"/>
          </a:xfrm>
          <a:prstGeom prst="ellipse">
            <a:avLst/>
          </a:prstGeom>
          <a:solidFill>
            <a:srgbClr val="6B21A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089136" y="26974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Orquestación sin ciclos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355848"/>
            <a:ext cx="2843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módulos se coordinan en una sola dirección. Ninguno depende de otro que dependa de él: el sistema no se enreda sobre sí mismo.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44068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decisiones baratas hoy y carísimas de revertir dentro de dos años.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Aplicada en capas, no en un solo control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F3E8F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11096"/>
            <a:ext cx="566928" cy="566928"/>
          </a:xfrm>
          <a:prstGeom prst="ellipse">
            <a:avLst/>
          </a:prstGeom>
          <a:solidFill>
            <a:srgbClr val="6B21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11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1109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Sesión firmada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911096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petición viaja con un token firmado y con vencimiento. El servidor no guarda sesiones: verifica.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816352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FAF5FF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2990088"/>
            <a:ext cx="566928" cy="566928"/>
          </a:xfrm>
          <a:prstGeom prst="ellipse">
            <a:avLst/>
          </a:prstGeom>
          <a:solidFill>
            <a:srgbClr val="6B21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2990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299008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Renovación transparente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990088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sesión se renueva sola sin pedir credenciales de nuevo, y una sola vez aunque haya varias peticiones simultáneas.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895344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F3E8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069080"/>
            <a:ext cx="566928" cy="566928"/>
          </a:xfrm>
          <a:prstGeom prst="ellipse">
            <a:avLst/>
          </a:prstGeom>
          <a:solidFill>
            <a:srgbClr val="6B21A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0690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Autorización por rol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06908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operaciones de gestión están restringidas de forma declarativa, encima del propio método.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974336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FAF5FF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5148072"/>
            <a:ext cx="566928" cy="566928"/>
          </a:xfrm>
          <a:prstGeom prst="ellipse">
            <a:avLst/>
          </a:prstGeom>
          <a:solidFill>
            <a:srgbClr val="6B21A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5148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514807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Propiedad del dato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5148072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puede operar sobre información de otro usuario, aunque conozca su identificador.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08076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capa falla, las otras siguen en pie.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diseño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identidad propia, medida contra el estándar de accesibilidad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14600" cy="822960"/>
          </a:xfrm>
          <a:prstGeom prst="roundRect">
            <a:avLst>
              <a:gd name="adj" fmla="val 13333"/>
            </a:avLst>
          </a:prstGeom>
          <a:solidFill>
            <a:srgbClr val="F3E8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6974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#F3E8FF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175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783080"/>
            <a:ext cx="2514600" cy="822960"/>
          </a:xfrm>
          <a:prstGeom prst="roundRect">
            <a:avLst>
              <a:gd name="adj" fmla="val 13333"/>
            </a:avLst>
          </a:prstGeom>
          <a:solidFill>
            <a:srgbClr val="A855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83280" y="26974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#A855F7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30175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Decorativo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783080"/>
            <a:ext cx="2514600" cy="822960"/>
          </a:xfrm>
          <a:prstGeom prst="roundRect">
            <a:avLst>
              <a:gd name="adj" fmla="val 13333"/>
            </a:avLst>
          </a:prstGeom>
          <a:solidFill>
            <a:srgbClr val="6B21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26974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#6B21A8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30175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69680" y="1783080"/>
            <a:ext cx="2514600" cy="822960"/>
          </a:xfrm>
          <a:prstGeom prst="roundRect">
            <a:avLst>
              <a:gd name="adj" fmla="val 13333"/>
            </a:avLst>
          </a:prstGeom>
          <a:solidFill>
            <a:srgbClr val="1F293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869680" y="26974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#1F2937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0" y="30175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FAF5FF"/>
          </a:solidFill>
          <a:ln/>
          <a:effectLst>
            <a:outerShdw sx="100000" sy="100000" kx="0" ky="0" algn="bl" rotWithShape="0" blurRad="127000" dist="25400" dir="5400000">
              <a:srgbClr val="1F2937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3749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2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Tokens en dos capas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16052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paleta cruda por un lado y su rol por otro. Cambiar el tema reasigna una sola capa, no cada componente.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79976" y="352044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FAF5FF"/>
          </a:solidFill>
          <a:ln/>
          <a:effectLst>
            <a:outerShdw sx="100000" sy="100000" kx="0" ky="0" algn="bl" rotWithShape="0" blurRad="127000" dist="25400" dir="5400000">
              <a:srgbClr val="1F2937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654296" y="3749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2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Modo claro y oscuro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654296" y="416052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temas nacen del mismo sistema, sin duplicar reglas ni mantener dos hojas de estilo.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19872" y="352044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FAF5FF"/>
          </a:solidFill>
          <a:ln/>
          <a:effectLst>
            <a:outerShdw sx="100000" sy="100000" kx="0" ky="0" algn="bl" rotWithShape="0" blurRad="127000" dist="25400" dir="5400000">
              <a:srgbClr val="1F2937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394192" y="3749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2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Contraste verificado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394192" y="416052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combinación de texto y fondo se midió: ninguna baja del mínimo que exige la norma WCAG AA.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669280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Accesible no significa feo: significa que funciona para todo el mundo.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escala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Crecer no exige reescribir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3E8FF"/>
          </a:solidFill>
          <a:ln/>
          <a:effectLst>
            <a:outerShdw sx="100000" sy="100000" kx="0" ky="0" algn="bl" rotWithShape="0" blurRad="127000" dist="25400" dir="5400000">
              <a:srgbClr val="1F293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48840"/>
            <a:ext cx="566928" cy="566928"/>
          </a:xfrm>
          <a:prstGeom prst="ellipse">
            <a:avLst/>
          </a:prstGeom>
          <a:solidFill>
            <a:srgbClr val="6B21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9344" y="214884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Módulos con límites claros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807208"/>
            <a:ext cx="4809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un dominio nuevo es agregar una carpeta, no tocar las once existentes.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36792" y="187452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3E8FF"/>
          </a:solidFill>
          <a:ln/>
          <a:effectLst>
            <a:outerShdw sx="100000" sy="100000" kx="0" ky="0" algn="bl" rotWithShape="0" blurRad="127000" dist="25400" dir="5400000">
              <a:srgbClr val="1F293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2148840"/>
            <a:ext cx="566928" cy="566928"/>
          </a:xfrm>
          <a:prstGeom prst="ellipse">
            <a:avLst/>
          </a:prstGeom>
          <a:solidFill>
            <a:srgbClr val="6B21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06056" y="214884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que espeja el backend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807208"/>
            <a:ext cx="4809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división de dominios en ambos lados: nadie discute dónde va un archivo nuevo.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3E8FF"/>
          </a:solidFill>
          <a:ln/>
          <a:effectLst>
            <a:outerShdw sx="100000" sy="100000" kx="0" ky="0" algn="bl" rotWithShape="0" blurRad="127000" dist="25400" dir="5400000">
              <a:srgbClr val="1F293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4526280"/>
            <a:ext cx="566928" cy="566928"/>
          </a:xfrm>
          <a:prstGeom prst="ellipse">
            <a:avLst/>
          </a:prstGeom>
          <a:solidFill>
            <a:srgbClr val="6B21A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2688" y="4526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09344" y="452628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Contratos tipados extremo a extremo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5184648"/>
            <a:ext cx="4809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cambio incompatible en la API falla al compilar, mucho antes de llegar a un usuario.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36792" y="425196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3E8FF"/>
          </a:solidFill>
          <a:ln/>
          <a:effectLst>
            <a:outerShdw sx="100000" sy="100000" kx="0" ky="0" algn="bl" rotWithShape="0" blurRad="127000" dist="25400" dir="5400000">
              <a:srgbClr val="1F2937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4526280"/>
            <a:ext cx="566928" cy="566928"/>
          </a:xfrm>
          <a:prstGeom prst="ellipse">
            <a:avLst/>
          </a:prstGeom>
          <a:solidFill>
            <a:srgbClr val="6B21A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29400" y="4526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306056" y="452628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Entorno reproducible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5184648"/>
            <a:ext cx="4809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persona que se suma al equipo levanta el sistema completo el primer día.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754880"/>
            <a:ext cx="3108960" cy="3108960"/>
          </a:xfrm>
          <a:prstGeom prst="ellipse">
            <a:avLst/>
          </a:prstGeom>
          <a:solidFill>
            <a:srgbClr val="6B21A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822960"/>
            <a:ext cx="2743200" cy="2743200"/>
          </a:xfrm>
          <a:prstGeom prst="ellipse">
            <a:avLst/>
          </a:prstGeom>
          <a:solidFill>
            <a:srgbClr val="A855F7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PeopleBikes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2461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construimos una aplicación que funciona.</a:t>
            </a:r>
            <a:endParaRPr lang="en-US" sz="20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una que se puede seguir construyendo.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937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B4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PeopleBikes</dc:title>
  <dc:subject>PptxGenJS Presentation</dc:subject>
  <dc:creator>Agustin Pulido - Julian Mauro</dc:creator>
  <cp:lastModifiedBy>Agustin Pulido - Julian Mauro</cp:lastModifiedBy>
  <cp:revision>1</cp:revision>
  <dcterms:created xsi:type="dcterms:W3CDTF">2026-08-31T17:00:32Z</dcterms:created>
  <dcterms:modified xsi:type="dcterms:W3CDTF">2026-08-31T17:00:32Z</dcterms:modified>
</cp:coreProperties>
</file>